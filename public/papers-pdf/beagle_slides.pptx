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3"/>
    <p:sldId id="259" r:id="rId4"/>
    <p:sldId id="271" r:id="rId5"/>
    <p:sldId id="275" r:id="rId6"/>
    <p:sldId id="260" r:id="rId7"/>
    <p:sldId id="276" r:id="rId8"/>
    <p:sldId id="262" r:id="rId9"/>
    <p:sldId id="264" r:id="rId10"/>
    <p:sldId id="266" r:id="rId11"/>
    <p:sldId id="267" r:id="rId12"/>
    <p:sldId id="269" r:id="rId13"/>
    <p:sldId id="270" r:id="rId14"/>
    <p:sldId id="258" r:id="rId15"/>
    <p:sldId id="263" r:id="rId16"/>
    <p:sldId id="265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A6B"/>
    <a:srgbClr val="CF3E3D"/>
    <a:srgbClr val="FFCCCC"/>
    <a:srgbClr val="E6B9B8"/>
    <a:srgbClr val="5798B6"/>
    <a:srgbClr val="CF3D3C"/>
    <a:srgbClr val="ACACAC"/>
    <a:srgbClr val="27AE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29"/>
    <p:restoredTop sz="94775"/>
  </p:normalViewPr>
  <p:slideViewPr>
    <p:cSldViewPr snapToGrid="0" snapToObjects="1">
      <p:cViewPr varScale="1">
        <p:scale>
          <a:sx n="113" d="100"/>
          <a:sy n="113" d="100"/>
        </p:scale>
        <p:origin x="3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/>
              <a:t>Beagle: Auto-tuning </a:t>
            </a:r>
            <a:r>
              <a:t>Performance Diagnosis</a:t>
            </a:r>
            <a:r>
              <a:rPr lang="en-US"/>
              <a:t> </a:t>
            </a:r>
            <a:r>
              <a:t>for </a:t>
            </a:r>
            <a:r>
              <a:rPr dirty="0"/>
              <a:t>Live Video 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583" y="2940597"/>
            <a:ext cx="10855842" cy="1436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rPr sz="2200" dirty="0">
                <a:solidFill>
                  <a:srgbClr val="FFFFFF"/>
                </a:solidFill>
              </a:rPr>
              <a:t>Chandan Bothra*</a:t>
            </a:r>
            <a:r>
              <a:rPr baseline="30000" dirty="0">
                <a:solidFill>
                  <a:srgbClr val="FFFFFF"/>
                </a:solidFill>
              </a:rPr>
              <a:t>†</a:t>
            </a:r>
            <a:r>
              <a:rPr sz="2200" dirty="0">
                <a:solidFill>
                  <a:srgbClr val="FFFFFF"/>
                </a:solidFill>
              </a:rPr>
              <a:t>, Leonardo Vilela Teixeira*</a:t>
            </a:r>
            <a:r>
              <a:rPr sz="2200" baseline="30000" dirty="0">
                <a:solidFill>
                  <a:srgbClr val="FFFFFF"/>
                </a:solidFill>
              </a:rPr>
              <a:t>†</a:t>
            </a:r>
            <a:r>
              <a:rPr sz="2200" dirty="0">
                <a:solidFill>
                  <a:srgbClr val="FFFFFF"/>
                </a:solidFill>
              </a:rPr>
              <a:t>, Zahaib Akhtar</a:t>
            </a:r>
            <a:r>
              <a:rPr sz="2200" baseline="30000" dirty="0">
                <a:solidFill>
                  <a:srgbClr val="FFFFFF"/>
                </a:solidFill>
              </a:rPr>
              <a:t>‡</a:t>
            </a:r>
            <a:r>
              <a:rPr sz="2200" dirty="0">
                <a:solidFill>
                  <a:srgbClr val="FFFFFF"/>
                </a:solidFill>
              </a:rPr>
              <a:t>, Sanjay G. Rao</a:t>
            </a:r>
            <a:r>
              <a:rPr sz="2200" baseline="30000" dirty="0">
                <a:solidFill>
                  <a:srgbClr val="FFFFFF"/>
                </a:solidFill>
              </a:rPr>
              <a:t>†</a:t>
            </a:r>
            <a:r>
              <a:rPr sz="2200" dirty="0">
                <a:solidFill>
                  <a:srgbClr val="FFFFFF"/>
                </a:solidFill>
              </a:rPr>
              <a:t>, Bruno Ribeiro</a:t>
            </a:r>
            <a:r>
              <a:rPr sz="2200" baseline="30000" dirty="0">
                <a:solidFill>
                  <a:srgbClr val="FFFFFF"/>
                </a:solidFill>
              </a:rPr>
              <a:t>†</a:t>
            </a:r>
          </a:p>
          <a:p>
            <a:pPr algn="ctr"/>
            <a:endParaRPr sz="1400" baseline="30000" dirty="0">
              <a:solidFill>
                <a:srgbClr val="FFFFFF"/>
              </a:solidFill>
            </a:endParaRPr>
          </a:p>
          <a:p>
            <a:pPr algn="ctr"/>
            <a:r>
              <a:rPr sz="2400" baseline="30000" dirty="0">
                <a:solidFill>
                  <a:srgbClr val="CCCCCC"/>
                </a:solidFill>
              </a:rPr>
              <a:t>†</a:t>
            </a:r>
            <a:r>
              <a:rPr sz="2400" dirty="0">
                <a:solidFill>
                  <a:srgbClr val="CCCCCC"/>
                </a:solidFill>
              </a:rPr>
              <a:t>Purdue University    </a:t>
            </a:r>
            <a:r>
              <a:rPr sz="2400" baseline="30000" dirty="0">
                <a:solidFill>
                  <a:srgbClr val="CCCCCC"/>
                </a:solidFill>
              </a:rPr>
              <a:t>‡</a:t>
            </a:r>
            <a:r>
              <a:rPr sz="2400" dirty="0">
                <a:solidFill>
                  <a:srgbClr val="CCCCCC"/>
                </a:solidFill>
              </a:rPr>
              <a:t>Amazo</a:t>
            </a:r>
            <a:r>
              <a:rPr lang="en-US" sz="2400" dirty="0">
                <a:solidFill>
                  <a:srgbClr val="CCCCCC"/>
                </a:solidFill>
              </a:rPr>
              <a:t>n Prime Video</a:t>
            </a:r>
            <a:endParaRPr sz="2400" dirty="0">
              <a:solidFill>
                <a:srgbClr val="CCCCCC"/>
              </a:solidFill>
            </a:endParaRPr>
          </a:p>
          <a:p>
            <a:pPr algn="ctr"/>
            <a:endParaRPr sz="1800" dirty="0">
              <a:solidFill>
                <a:srgbClr val="CCCCCC"/>
              </a:solidFill>
            </a:endParaRPr>
          </a:p>
          <a:p>
            <a:pPr algn="ctr"/>
            <a:r>
              <a:rPr sz="1400" i="1" dirty="0">
                <a:solidFill>
                  <a:srgbClr val="CCCCCC"/>
                </a:solidFill>
              </a:rPr>
              <a:t>* Equal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66995" y="5943600"/>
            <a:ext cx="342754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 err="1"/>
              <a:t>IWQoS</a:t>
            </a:r>
            <a:r>
              <a:rPr dirty="0"/>
              <a:t> 202</a:t>
            </a:r>
            <a:r>
              <a:rPr lang="en-US" dirty="0"/>
              <a:t>6 – Istanbul, Turkey</a:t>
            </a:r>
            <a:endParaRPr dirty="0"/>
          </a:p>
        </p:txBody>
      </p:sp>
      <p:pic>
        <p:nvPicPr>
          <p:cNvPr id="6" name="Picture 5" descr="purdue-university-logo-transparent - NSF I-Corps Hub: Great Lakes Region">
            <a:extLst>
              <a:ext uri="{FF2B5EF4-FFF2-40B4-BE49-F238E27FC236}">
                <a16:creationId xmlns:a16="http://schemas.microsoft.com/office/drawing/2014/main" id="{E64B1653-006C-CB53-184D-FD3E6E161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28" y="4616064"/>
            <a:ext cx="3178630" cy="949175"/>
          </a:xfrm>
          <a:prstGeom prst="rect">
            <a:avLst/>
          </a:prstGeom>
          <a:effectLst>
            <a:glow rad="196501">
              <a:schemeClr val="accent1">
                <a:alpha val="40000"/>
              </a:schemeClr>
            </a:glow>
          </a:effectLst>
        </p:spPr>
      </p:pic>
      <p:pic>
        <p:nvPicPr>
          <p:cNvPr id="10" name="Picture 9" descr="File:Amazon Prime Video logo.svg - Wikimedia Commons">
            <a:extLst>
              <a:ext uri="{FF2B5EF4-FFF2-40B4-BE49-F238E27FC236}">
                <a16:creationId xmlns:a16="http://schemas.microsoft.com/office/drawing/2014/main" id="{7494F8F3-C420-79BD-FCD6-73686D8AE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959" y="4578788"/>
            <a:ext cx="3299018" cy="1015479"/>
          </a:xfrm>
          <a:prstGeom prst="rect">
            <a:avLst/>
          </a:prstGeom>
          <a:effectLst>
            <a:glow rad="196501"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st="508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Live Video Streaming at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67734" y="1987024"/>
            <a:ext cx="1400000" cy="550000"/>
          </a:xfrm>
          <a:prstGeom prst="roundRect">
            <a:avLst/>
          </a:prstGeom>
          <a:solidFill>
            <a:srgbClr val="D6EAF8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2E86AB"/>
                </a:solidFill>
              </a:defRPr>
            </a:pPr>
            <a:r>
              <a:rPr dirty="0"/>
              <a:t>CDN</a:t>
            </a:r>
            <a:r>
              <a:rPr baseline="-25000" dirty="0"/>
              <a:t>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7734" y="1987024"/>
            <a:ext cx="1400000" cy="550000"/>
          </a:xfrm>
          <a:prstGeom prst="roundRect">
            <a:avLst/>
          </a:prstGeom>
          <a:solidFill>
            <a:srgbClr val="D5F5E3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27AE60"/>
                </a:solidFill>
              </a:defRPr>
            </a:pPr>
            <a:r>
              <a:rPr dirty="0"/>
              <a:t>CDN</a:t>
            </a:r>
            <a:r>
              <a:rPr baseline="-25000" dirty="0"/>
              <a:t>B</a:t>
            </a:r>
          </a:p>
        </p:txBody>
      </p:sp>
      <p:sp>
        <p:nvSpPr>
          <p:cNvPr id="8" name="Cloud 7"/>
          <p:cNvSpPr/>
          <p:nvPr/>
        </p:nvSpPr>
        <p:spPr>
          <a:xfrm>
            <a:off x="6567734" y="3287024"/>
            <a:ext cx="1200000" cy="700000"/>
          </a:xfrm>
          <a:prstGeom prst="cloud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ASN₁</a:t>
            </a:r>
          </a:p>
        </p:txBody>
      </p:sp>
      <p:sp>
        <p:nvSpPr>
          <p:cNvPr id="9" name="Cloud 8"/>
          <p:cNvSpPr/>
          <p:nvPr/>
        </p:nvSpPr>
        <p:spPr>
          <a:xfrm>
            <a:off x="8167734" y="3287024"/>
            <a:ext cx="1200000" cy="700000"/>
          </a:xfrm>
          <a:prstGeom prst="cloud">
            <a:avLst/>
          </a:prstGeom>
          <a:solidFill>
            <a:srgbClr val="FFCCCC"/>
          </a:solidFill>
          <a:ln w="3175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CC3333"/>
                </a:solidFill>
              </a:defRPr>
            </a:pPr>
            <a:r>
              <a:t>ASN₂</a:t>
            </a:r>
          </a:p>
        </p:txBody>
      </p:sp>
      <p:sp>
        <p:nvSpPr>
          <p:cNvPr id="10" name="Cloud 9"/>
          <p:cNvSpPr/>
          <p:nvPr/>
        </p:nvSpPr>
        <p:spPr>
          <a:xfrm>
            <a:off x="9767734" y="3287024"/>
            <a:ext cx="1200000" cy="700000"/>
          </a:xfrm>
          <a:prstGeom prst="cloud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ASN₃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67734" y="4787024"/>
            <a:ext cx="1100000" cy="550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📱</a:t>
            </a:r>
            <a:br/>
            <a:r>
              <a:t>Smartphone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7734" y="4787024"/>
            <a:ext cx="1100000" cy="550000"/>
          </a:xfrm>
          <a:prstGeom prst="roundRect">
            <a:avLst/>
          </a:prstGeom>
          <a:solidFill>
            <a:srgbClr val="FFCCCC"/>
          </a:solidFill>
          <a:ln w="1905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900" b="0">
                <a:solidFill>
                  <a:srgbClr val="CC3333"/>
                </a:solidFill>
              </a:defRPr>
            </a:pPr>
            <a:r>
              <a:rPr dirty="0"/>
              <a:t>🖥️</a:t>
            </a:r>
            <a:br>
              <a:rPr dirty="0"/>
            </a:br>
            <a:r>
              <a:rPr dirty="0"/>
              <a:t>Desktop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67734" y="4787024"/>
            <a:ext cx="1100000" cy="550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📺</a:t>
            </a:r>
            <a:br/>
            <a:r>
              <a:t>Smart TV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167734" y="2537024"/>
            <a:ext cx="200000" cy="750000"/>
          </a:xfrm>
          <a:prstGeom prst="line">
            <a:avLst/>
          </a:prstGeom>
          <a:ln w="1905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67734" y="2537024"/>
            <a:ext cx="1000000" cy="750000"/>
          </a:xfrm>
          <a:prstGeom prst="line">
            <a:avLst/>
          </a:prstGeom>
          <a:ln w="63500">
            <a:solidFill>
              <a:srgbClr val="CC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767734" y="2537024"/>
            <a:ext cx="1200000" cy="750000"/>
          </a:xfrm>
          <a:prstGeom prst="line">
            <a:avLst/>
          </a:prstGeom>
          <a:ln w="25400">
            <a:solidFill>
              <a:srgbClr val="CC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367734" y="2537024"/>
            <a:ext cx="0" cy="750000"/>
          </a:xfrm>
          <a:prstGeom prst="line">
            <a:avLst/>
          </a:prstGeom>
          <a:ln w="190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117734" y="3987024"/>
            <a:ext cx="50000" cy="80000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717734" y="3987024"/>
            <a:ext cx="50000" cy="800000"/>
          </a:xfrm>
          <a:prstGeom prst="line">
            <a:avLst/>
          </a:prstGeom>
          <a:ln w="31750">
            <a:solidFill>
              <a:srgbClr val="CC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0317734" y="3987024"/>
            <a:ext cx="50000" cy="80000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317734" y="3987024"/>
            <a:ext cx="1150000" cy="800000"/>
          </a:xfrm>
          <a:prstGeom prst="line">
            <a:avLst/>
          </a:prstGeom>
          <a:ln w="19050">
            <a:solidFill>
              <a:srgbClr val="CC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75294" y="4004120"/>
            <a:ext cx="1403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CC3333"/>
                </a:solidFill>
              </a:defRPr>
            </a:pPr>
            <a:r>
              <a:rPr sz="1200" dirty="0"/>
              <a:t>⚠ ASN₂ impaired </a:t>
            </a:r>
            <a:br>
              <a:rPr sz="1200" dirty="0"/>
            </a:br>
            <a:r>
              <a:rPr sz="1200" dirty="0"/>
              <a:t>impacts CDN</a:t>
            </a:r>
            <a:r>
              <a:rPr sz="1200" baseline="-25000" dirty="0"/>
              <a:t>A</a:t>
            </a:r>
            <a:r>
              <a:rPr sz="1200" dirty="0"/>
              <a:t> &amp; devices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5803" y="1725735"/>
            <a:ext cx="146386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i="1">
                <a:solidFill>
                  <a:srgbClr val="CC3333"/>
                </a:solidFill>
              </a:defRPr>
            </a:pPr>
            <a:r>
              <a:rPr sz="1200" dirty="0"/>
              <a:t>⚠ appears impaired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7734" y="2087024"/>
            <a:ext cx="51809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rPr sz="1200" dirty="0"/>
              <a:t>CDNs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67734" y="3487024"/>
            <a:ext cx="43152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rPr sz="1200" dirty="0"/>
              <a:t>ISPs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67734" y="4887024"/>
            <a:ext cx="6511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rPr sz="1200" dirty="0"/>
              <a:t>Devices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IWQoS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400" y="6400800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>
                <a:solidFill>
                  <a:srgbClr val="555555"/>
                </a:solidFill>
              </a:rPr>
              <a:t>2/13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AEDBB2-882D-724A-0893-426112CA8F09}"/>
              </a:ext>
            </a:extLst>
          </p:cNvPr>
          <p:cNvSpPr txBox="1"/>
          <p:nvPr/>
        </p:nvSpPr>
        <p:spPr>
          <a:xfrm>
            <a:off x="457200" y="1188720"/>
            <a:ext cx="6858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solidFill>
                  <a:srgbClr val="000000"/>
                </a:solidFill>
              </a:defRPr>
            </a:pPr>
            <a:r>
              <a:rPr b="1" dirty="0"/>
              <a:t>Live video → millions of concurrent users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solidFill>
                  <a:srgbClr val="000000"/>
                </a:solidFill>
              </a:defRPr>
            </a:pPr>
            <a:r>
              <a:rPr dirty="0"/>
              <a:t>Performance impacted by many </a:t>
            </a:r>
            <a:r>
              <a:rPr lang="en-US" b="1" i="1" dirty="0"/>
              <a:t>dimensions</a:t>
            </a:r>
            <a:endParaRPr i="1" dirty="0"/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CDNs, ISPs, protocols, devices, players</a:t>
            </a:r>
            <a:endParaRPr lang="en-US" dirty="0"/>
          </a:p>
          <a:p>
            <a:pPr lvl="1"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solidFill>
                  <a:srgbClr val="000000"/>
                </a:solidFill>
              </a:defRPr>
            </a:pPr>
            <a:r>
              <a:rPr b="1" dirty="0"/>
              <a:t>Poor experience for even a small subset is unacceptable</a:t>
            </a:r>
            <a:endParaRPr lang="en-US" b="1" dirty="0"/>
          </a:p>
          <a:p>
            <a:pPr>
              <a:spcAft>
                <a:spcPts val="600"/>
              </a:spcAft>
              <a:defRPr sz="2000" b="0">
                <a:solidFill>
                  <a:srgbClr val="000000"/>
                </a:solidFill>
              </a:defRPr>
            </a:pPr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0000"/>
                </a:solidFill>
              </a:defRPr>
            </a:pPr>
            <a:r>
              <a:rPr dirty="0"/>
              <a:t>Real-time diagnosis needed → find root cause fast</a:t>
            </a:r>
            <a:endParaRPr lang="en-US" dirty="0"/>
          </a:p>
          <a:p>
            <a:pPr>
              <a:spcAft>
                <a:spcPts val="600"/>
              </a:spcAft>
              <a:defRPr sz="2000" b="1">
                <a:solidFill>
                  <a:srgbClr val="000000"/>
                </a:solidFill>
              </a:defRPr>
            </a:pPr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solidFill>
                  <a:srgbClr val="000000"/>
                </a:solidFill>
              </a:defRPr>
            </a:pPr>
            <a:r>
              <a:rPr b="1" dirty="0"/>
              <a:t>Challenge: needle in a haystack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~10K+ flagged anomalies at any time step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Only 1 in hundreds is a true root cause</a:t>
            </a:r>
          </a:p>
        </p:txBody>
      </p:sp>
      <p:cxnSp>
        <p:nvCxnSpPr>
          <p:cNvPr id="32" name="Connector 14">
            <a:extLst>
              <a:ext uri="{FF2B5EF4-FFF2-40B4-BE49-F238E27FC236}">
                <a16:creationId xmlns:a16="http://schemas.microsoft.com/office/drawing/2014/main" id="{B329CC3E-E126-E74F-E7D9-5FC2DC3C06A6}"/>
              </a:ext>
            </a:extLst>
          </p:cNvPr>
          <p:cNvCxnSpPr/>
          <p:nvPr/>
        </p:nvCxnSpPr>
        <p:spPr>
          <a:xfrm>
            <a:off x="7767727" y="2537019"/>
            <a:ext cx="1000000" cy="750000"/>
          </a:xfrm>
          <a:prstGeom prst="line">
            <a:avLst/>
          </a:prstGeom>
          <a:ln w="63500">
            <a:solidFill>
              <a:srgbClr val="5798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15">
            <a:extLst>
              <a:ext uri="{FF2B5EF4-FFF2-40B4-BE49-F238E27FC236}">
                <a16:creationId xmlns:a16="http://schemas.microsoft.com/office/drawing/2014/main" id="{16D4DAC8-1E51-631A-ACA7-FB1E7954DD43}"/>
              </a:ext>
            </a:extLst>
          </p:cNvPr>
          <p:cNvCxnSpPr/>
          <p:nvPr/>
        </p:nvCxnSpPr>
        <p:spPr>
          <a:xfrm flipH="1">
            <a:off x="8781584" y="2523164"/>
            <a:ext cx="1200000" cy="750000"/>
          </a:xfrm>
          <a:prstGeom prst="line">
            <a:avLst/>
          </a:prstGeom>
          <a:ln w="254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loud 34">
            <a:extLst>
              <a:ext uri="{FF2B5EF4-FFF2-40B4-BE49-F238E27FC236}">
                <a16:creationId xmlns:a16="http://schemas.microsoft.com/office/drawing/2014/main" id="{01AC47E3-4D8F-767A-DAD0-2005A2A20E33}"/>
              </a:ext>
            </a:extLst>
          </p:cNvPr>
          <p:cNvSpPr/>
          <p:nvPr/>
        </p:nvSpPr>
        <p:spPr>
          <a:xfrm>
            <a:off x="8117735" y="3259309"/>
            <a:ext cx="1249994" cy="750000"/>
          </a:xfrm>
          <a:prstGeom prst="cloud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rPr dirty="0"/>
              <a:t>ASN</a:t>
            </a:r>
            <a:r>
              <a:rPr lang="en-US" baseline="-25000" dirty="0"/>
              <a:t>2</a:t>
            </a:r>
            <a:endParaRPr baseline="-25000" dirty="0"/>
          </a:p>
        </p:txBody>
      </p:sp>
      <p:cxnSp>
        <p:nvCxnSpPr>
          <p:cNvPr id="36" name="Connector 20">
            <a:extLst>
              <a:ext uri="{FF2B5EF4-FFF2-40B4-BE49-F238E27FC236}">
                <a16:creationId xmlns:a16="http://schemas.microsoft.com/office/drawing/2014/main" id="{02607FAC-C91B-9686-67B5-777AA7591F81}"/>
              </a:ext>
            </a:extLst>
          </p:cNvPr>
          <p:cNvCxnSpPr/>
          <p:nvPr/>
        </p:nvCxnSpPr>
        <p:spPr>
          <a:xfrm flipH="1">
            <a:off x="7317737" y="3987020"/>
            <a:ext cx="1150000" cy="800000"/>
          </a:xfrm>
          <a:prstGeom prst="line">
            <a:avLst/>
          </a:prstGeom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18">
            <a:extLst>
              <a:ext uri="{FF2B5EF4-FFF2-40B4-BE49-F238E27FC236}">
                <a16:creationId xmlns:a16="http://schemas.microsoft.com/office/drawing/2014/main" id="{971130F5-918A-D4B2-4780-17D59A88D2D0}"/>
              </a:ext>
            </a:extLst>
          </p:cNvPr>
          <p:cNvCxnSpPr/>
          <p:nvPr/>
        </p:nvCxnSpPr>
        <p:spPr>
          <a:xfrm flipH="1">
            <a:off x="8717729" y="4028584"/>
            <a:ext cx="50000" cy="800000"/>
          </a:xfrm>
          <a:prstGeom prst="line">
            <a:avLst/>
          </a:prstGeom>
          <a:ln w="317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7847B182-EFBC-2CB9-DD0F-7090EE713FB3}"/>
              </a:ext>
            </a:extLst>
          </p:cNvPr>
          <p:cNvSpPr/>
          <p:nvPr/>
        </p:nvSpPr>
        <p:spPr>
          <a:xfrm>
            <a:off x="8167729" y="4787022"/>
            <a:ext cx="1150000" cy="55000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ACA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900" b="0">
                <a:solidFill>
                  <a:srgbClr val="CC3333"/>
                </a:solidFill>
              </a:defRPr>
            </a:pPr>
            <a:r>
              <a:rPr dirty="0"/>
              <a:t>🖥️</a:t>
            </a:r>
            <a:br>
              <a:rPr dirty="0"/>
            </a:br>
            <a:r>
              <a:rPr dirty="0">
                <a:solidFill>
                  <a:schemeClr val="tx1"/>
                </a:solidFill>
              </a:rPr>
              <a:t>Desktop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3153A323-24A8-46C2-C9E0-315F3275768D}"/>
              </a:ext>
            </a:extLst>
          </p:cNvPr>
          <p:cNvSpPr/>
          <p:nvPr/>
        </p:nvSpPr>
        <p:spPr>
          <a:xfrm>
            <a:off x="6867732" y="1987020"/>
            <a:ext cx="1400000" cy="5500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50800">
            <a:solidFill>
              <a:srgbClr val="CF3E3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2E86AB"/>
                </a:solidFill>
              </a:defRPr>
            </a:pPr>
            <a:r>
              <a:rPr dirty="0">
                <a:solidFill>
                  <a:srgbClr val="FF0000"/>
                </a:solidFill>
              </a:rPr>
              <a:t>CDN</a:t>
            </a:r>
            <a:r>
              <a:rPr baseline="-250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A79F6832-5F83-9406-029B-79E52216CCA5}"/>
              </a:ext>
            </a:extLst>
          </p:cNvPr>
          <p:cNvSpPr/>
          <p:nvPr/>
        </p:nvSpPr>
        <p:spPr>
          <a:xfrm>
            <a:off x="6567730" y="4787020"/>
            <a:ext cx="1100000" cy="550000"/>
          </a:xfrm>
          <a:prstGeom prst="roundRect">
            <a:avLst/>
          </a:prstGeom>
          <a:solidFill>
            <a:srgbClr val="FFCCCC"/>
          </a:solidFill>
          <a:ln w="19050">
            <a:solidFill>
              <a:srgbClr val="CF3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rPr dirty="0"/>
              <a:t>📱</a:t>
            </a:r>
            <a:br>
              <a:rPr dirty="0"/>
            </a:br>
            <a:r>
              <a:rPr dirty="0">
                <a:solidFill>
                  <a:srgbClr val="FF0000"/>
                </a:solidFill>
              </a:rPr>
              <a:t>Smartphone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2" grpId="1"/>
      <p:bldP spid="23" grpId="1"/>
      <p:bldP spid="24" grpId="0"/>
      <p:bldP spid="25" grpId="0"/>
      <p:bldP spid="26" grpId="0"/>
      <p:bldP spid="35" grpId="0" animBg="1"/>
      <p:bldP spid="35" grpId="1" animBg="1"/>
      <p:bldP spid="38" grpId="0" animBg="1"/>
      <p:bldP spid="38" grpId="1" animBg="1"/>
      <p:bldP spid="39" grpId="0" animBg="1"/>
      <p:bldP spid="40" grpId="0" animBg="1"/>
      <p:bldP spid="40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Existing Approaches Fall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IWQoS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400" y="6400800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rPr lang="en-US" sz="1100">
                <a:solidFill>
                  <a:srgbClr val="555555"/>
                </a:solidFill>
              </a:rPr>
              <a:t>3/13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0" y="1188720"/>
            <a:ext cx="18288" cy="500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5400000" cy="4042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86AB"/>
                </a:solidFill>
              </a:defRPr>
            </a:pPr>
            <a:r>
              <a:rPr dirty="0"/>
              <a:t>Rule-Based Systems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800" b="1">
                <a:solidFill>
                  <a:srgbClr val="000000"/>
                </a:solidFill>
              </a:defRPr>
            </a:pPr>
            <a:r>
              <a:rPr dirty="0"/>
              <a:t>What they do: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 b="0">
                <a:solidFill>
                  <a:srgbClr val="000000"/>
                </a:solidFill>
              </a:defRPr>
            </a:pPr>
            <a:r>
              <a:rPr dirty="0"/>
              <a:t>Organize data in cuboid/hierarchical graph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 b="0">
                <a:solidFill>
                  <a:srgbClr val="000000"/>
                </a:solidFill>
              </a:defRPr>
            </a:pPr>
            <a:r>
              <a:rPr dirty="0"/>
              <a:t>Use thresholds to flag anomalous groups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 b="0">
                <a:solidFill>
                  <a:srgbClr val="000000"/>
                </a:solidFill>
              </a:defRPr>
            </a:pPr>
            <a:r>
              <a:rPr dirty="0"/>
              <a:t>Apply heuristics on parent-child precedence:</a:t>
            </a:r>
          </a:p>
          <a:p>
            <a:pPr marL="1200150" lvl="2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 b="0">
                <a:solidFill>
                  <a:srgbClr val="000000"/>
                </a:solidFill>
              </a:defRPr>
            </a:pPr>
            <a:r>
              <a:rPr dirty="0"/>
              <a:t>e.g., if all children impacted → flag parent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endParaRPr lang="en-US"/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800" b="1">
                <a:solidFill>
                  <a:srgbClr val="000000"/>
                </a:solidFill>
              </a:defRPr>
            </a:pPr>
            <a:r>
              <a:rPr dirty="0"/>
              <a:t>Limitations: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 b="0">
                <a:solidFill>
                  <a:srgbClr val="000000"/>
                </a:solidFill>
              </a:defRPr>
            </a:pPr>
            <a:r>
              <a:rPr dirty="0"/>
              <a:t>Static thresholds → false positives/negatives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 b="0">
                <a:solidFill>
                  <a:srgbClr val="000000"/>
                </a:solidFill>
              </a:defRPr>
            </a:pPr>
            <a:r>
              <a:rPr dirty="0"/>
              <a:t>Simple parent-child rules miss complex correlations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 b="0">
                <a:solidFill>
                  <a:srgbClr val="000000"/>
                </a:solidFill>
              </a:defRPr>
            </a:pPr>
            <a:r>
              <a:rPr dirty="0"/>
              <a:t>Requires extensive manual 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000" y="1188720"/>
            <a:ext cx="55000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86AB"/>
                </a:solidFill>
              </a:defRPr>
            </a:pPr>
            <a:r>
              <a:rPr dirty="0"/>
              <a:t>ML Approaches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800" b="1">
                <a:solidFill>
                  <a:srgbClr val="000000"/>
                </a:solidFill>
              </a:defRPr>
            </a:pPr>
            <a:r>
              <a:rPr dirty="0"/>
              <a:t>Classical ML (GBDTs):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 b="0">
                <a:solidFill>
                  <a:srgbClr val="000000"/>
                </a:solidFill>
              </a:defRPr>
            </a:pPr>
            <a:r>
              <a:rPr dirty="0"/>
              <a:t>Independent model per </a:t>
            </a:r>
            <a:r>
              <a:rPr lang="en-US" dirty="0"/>
              <a:t>dimension (CDN, ASN etc.)</a:t>
            </a:r>
            <a:endParaRPr dirty="0"/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 b="0">
                <a:solidFill>
                  <a:srgbClr val="000000"/>
                </a:solidFill>
              </a:defRPr>
            </a:pPr>
            <a:r>
              <a:rPr dirty="0"/>
              <a:t>Cannot make collective decisions across root causes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 b="0">
                <a:solidFill>
                  <a:srgbClr val="000000"/>
                </a:solidFill>
              </a:defRPr>
            </a:pPr>
            <a:r>
              <a:rPr dirty="0"/>
              <a:t>Misses graph/correlation structure entirely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endParaRPr lang="en-US" dirty="0"/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800" b="1">
                <a:solidFill>
                  <a:srgbClr val="000000"/>
                </a:solidFill>
              </a:defRPr>
            </a:pPr>
            <a:r>
              <a:rPr dirty="0"/>
              <a:t>Deep Neural Networks (Set Transformer):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 b="0">
                <a:solidFill>
                  <a:srgbClr val="000000"/>
                </a:solidFill>
              </a:defRPr>
            </a:pPr>
            <a:r>
              <a:rPr dirty="0"/>
              <a:t>Can learn correlations across inputs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 b="0">
                <a:solidFill>
                  <a:srgbClr val="000000"/>
                </a:solidFill>
              </a:defRPr>
            </a:pPr>
            <a:r>
              <a:rPr dirty="0"/>
              <a:t>Not interpretable (black box)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 b="0">
                <a:solidFill>
                  <a:srgbClr val="000000"/>
                </a:solidFill>
              </a:defRPr>
            </a:pPr>
            <a:r>
              <a:rPr dirty="0"/>
              <a:t>Requires large labeled datasets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 b="0">
                <a:solidFill>
                  <a:srgbClr val="000000"/>
                </a:solidFill>
              </a:defRPr>
            </a:pPr>
            <a:r>
              <a:rPr dirty="0"/>
              <a:t>Vulnerable to distribution shift</a:t>
            </a:r>
          </a:p>
          <a:p>
            <a:pPr marL="1200150" lvl="2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 b="0">
                <a:solidFill>
                  <a:srgbClr val="000000"/>
                </a:solidFill>
              </a:defRPr>
            </a:pPr>
            <a:r>
              <a:rPr dirty="0"/>
              <a:t>(training ≠ production data)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Continuous Tuning is Essential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0000"/>
                </a:solidFill>
              </a:defRPr>
            </a:pPr>
            <a:r>
              <a:rPr dirty="0"/>
              <a:t>Production diagnosis systems require constant evolution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solidFill>
                  <a:srgbClr val="000000"/>
                </a:solidFill>
              </a:defRPr>
            </a:pPr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0000"/>
                </a:solidFill>
              </a:defRPr>
            </a:pPr>
            <a:r>
              <a:rPr dirty="0"/>
              <a:t>Rules drift over time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Thresholds set for one </a:t>
            </a:r>
            <a:r>
              <a:rPr lang="en-US" dirty="0"/>
              <a:t>live </a:t>
            </a:r>
            <a:r>
              <a:rPr dirty="0"/>
              <a:t>event may not work for the next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User population shifts (new devices, new ISPs, new regions)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solidFill>
                  <a:srgbClr val="000000"/>
                </a:solidFill>
              </a:defRPr>
            </a:pPr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0000"/>
                </a:solidFill>
              </a:defRPr>
            </a:pPr>
            <a:r>
              <a:rPr dirty="0"/>
              <a:t>Precedence relationships change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New correlations emerge (e.g., new player tied to new device family)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Old correlations become stale as infrastructure evolves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solidFill>
                  <a:srgbClr val="000000"/>
                </a:solidFill>
              </a:defRPr>
            </a:pPr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0000"/>
                </a:solidFill>
              </a:defRPr>
            </a:pPr>
            <a:r>
              <a:rPr dirty="0"/>
              <a:t>Feedback is sparse and delayed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lang="en-US" dirty="0"/>
              <a:t>Ground truth</a:t>
            </a:r>
            <a:r>
              <a:rPr dirty="0"/>
              <a:t> only available for a tiny fraction of </a:t>
            </a:r>
            <a:r>
              <a:rPr lang="en-US" dirty="0"/>
              <a:t>anomalies</a:t>
            </a:r>
            <a:endParaRPr dirty="0"/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Manual tuning cycles are slow (weeks) vs. problem evolution (days)</a:t>
            </a:r>
          </a:p>
          <a:p>
            <a:pPr>
              <a:spcAft>
                <a:spcPts val="600"/>
              </a:spcAft>
              <a:defRPr sz="2000"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IWQoS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400" y="6400800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rPr lang="en-US" sz="1100">
                <a:solidFill>
                  <a:srgbClr val="555555"/>
                </a:solidFill>
              </a:rPr>
              <a:t>4/13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C0E06-93C0-2398-7871-DC6778FEC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574002-6E8D-6151-E26D-55F6E1A2F79F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AE0E4A-1608-DD33-D52F-5C70F66AEF11}"/>
              </a:ext>
            </a:extLst>
          </p:cNvPr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Continuous Tuning is Essential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5695F4-2FC1-508A-65D0-C8C73AA97FCA}"/>
              </a:ext>
            </a:extLst>
          </p:cNvPr>
          <p:cNvSpPr txBox="1"/>
          <p:nvPr/>
        </p:nvSpPr>
        <p:spPr>
          <a:xfrm>
            <a:off x="457200" y="1188720"/>
            <a:ext cx="10972800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0000"/>
                </a:solidFill>
              </a:defRPr>
            </a:pPr>
            <a:r>
              <a:rPr dirty="0"/>
              <a:t>Production diagnosis systems require constant evolution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solidFill>
                  <a:srgbClr val="000000"/>
                </a:solidFill>
              </a:defRPr>
            </a:pPr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0000"/>
                </a:solidFill>
              </a:defRPr>
            </a:pPr>
            <a:r>
              <a:rPr dirty="0"/>
              <a:t>Rules drift over time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Thresholds set for one </a:t>
            </a:r>
            <a:r>
              <a:rPr lang="en-US" dirty="0"/>
              <a:t>live </a:t>
            </a:r>
            <a:r>
              <a:rPr dirty="0"/>
              <a:t>event may not work for the next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User population shifts (new devices, new ISPs, new regions)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solidFill>
                  <a:srgbClr val="000000"/>
                </a:solidFill>
              </a:defRPr>
            </a:pPr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0000"/>
                </a:solidFill>
              </a:defRPr>
            </a:pPr>
            <a:r>
              <a:rPr dirty="0"/>
              <a:t>Precedence relationships change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New correlations emerge (e.g., new player tied to new device family)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Old correlations become stale as infrastructure evolves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solidFill>
                  <a:srgbClr val="000000"/>
                </a:solidFill>
              </a:defRPr>
            </a:pPr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0000"/>
                </a:solidFill>
              </a:defRPr>
            </a:pPr>
            <a:r>
              <a:rPr dirty="0"/>
              <a:t>Feedback is sparse and delayed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lang="en-US" dirty="0"/>
              <a:t>Ground truth</a:t>
            </a:r>
            <a:r>
              <a:rPr dirty="0"/>
              <a:t> only available for a tiny fraction of </a:t>
            </a:r>
            <a:r>
              <a:rPr lang="en-US" dirty="0"/>
              <a:t>anomalies</a:t>
            </a:r>
            <a:endParaRPr dirty="0"/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Manual tuning cycles are slow (weeks) vs. problem evolution (days)</a:t>
            </a:r>
          </a:p>
          <a:p>
            <a:pPr>
              <a:spcAft>
                <a:spcPts val="600"/>
              </a:spcAft>
              <a:defRPr sz="2000"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94FDC-EFFB-C9EA-C753-D43B465B668C}"/>
              </a:ext>
            </a:extLst>
          </p:cNvPr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IWQoS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CE866A-556E-64D7-89A0-840A0C966895}"/>
              </a:ext>
            </a:extLst>
          </p:cNvPr>
          <p:cNvSpPr txBox="1"/>
          <p:nvPr/>
        </p:nvSpPr>
        <p:spPr>
          <a:xfrm>
            <a:off x="10820400" y="6400800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rPr lang="en-US" sz="1100">
                <a:solidFill>
                  <a:srgbClr val="555555"/>
                </a:solidFill>
              </a:rPr>
              <a:t>5/13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256168-575B-8AB7-26AF-5A31AD8C55E4}"/>
              </a:ext>
            </a:extLst>
          </p:cNvPr>
          <p:cNvSpPr/>
          <p:nvPr/>
        </p:nvSpPr>
        <p:spPr>
          <a:xfrm>
            <a:off x="-10512" y="0"/>
            <a:ext cx="12192000" cy="6858000"/>
          </a:xfrm>
          <a:prstGeom prst="rect">
            <a:avLst/>
          </a:prstGeom>
          <a:solidFill>
            <a:schemeClr val="bg1">
              <a:alpha val="83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4BCAC0-BC0E-85F6-45BD-246C7A1FBF21}"/>
              </a:ext>
            </a:extLst>
          </p:cNvPr>
          <p:cNvSpPr/>
          <p:nvPr/>
        </p:nvSpPr>
        <p:spPr>
          <a:xfrm>
            <a:off x="0" y="2596056"/>
            <a:ext cx="12192000" cy="1965434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Need: automated, continuous adaptation from limited signals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039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Beagle: Our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IWQoS 2026</a:t>
            </a:r>
          </a:p>
        </p:txBody>
      </p:sp>
      <p:pic>
        <p:nvPicPr>
          <p:cNvPr id="6" name="Picture 5" descr="Updated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119749"/>
            <a:ext cx="5259430" cy="29985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188720"/>
            <a:ext cx="640080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0000"/>
                </a:solidFill>
              </a:defRPr>
            </a:pPr>
            <a:r>
              <a:rPr dirty="0"/>
              <a:t>Auto-tuning system for anomaly localization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solidFill>
                  <a:srgbClr val="000000"/>
                </a:solidFill>
              </a:defRPr>
            </a:pPr>
            <a:r>
              <a:rPr dirty="0"/>
              <a:t>Key idea: Learn rules &amp; graph from limited feedback</a:t>
            </a:r>
          </a:p>
          <a:p>
            <a:pPr>
              <a:spcAft>
                <a:spcPts val="600"/>
              </a:spcAft>
              <a:defRPr sz="2000" b="0">
                <a:solidFill>
                  <a:srgbClr val="000000"/>
                </a:solidFill>
              </a:defRPr>
            </a:pPr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0000"/>
                </a:solidFill>
              </a:defRPr>
            </a:pPr>
            <a:r>
              <a:rPr dirty="0"/>
              <a:t>Two cascaded filter stages: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r>
              <a:rPr dirty="0"/>
              <a:t>① Rule-based filters (thresholds + logic)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r>
              <a:rPr dirty="0"/>
              <a:t>② Graph-based filters (precedence DAG)</a:t>
            </a:r>
          </a:p>
          <a:p>
            <a:pPr>
              <a:spcAft>
                <a:spcPts val="600"/>
              </a:spcAft>
              <a:defRPr sz="2000" b="0">
                <a:solidFill>
                  <a:srgbClr val="000000"/>
                </a:solidFill>
              </a:defRPr>
            </a:pPr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0000"/>
                </a:solidFill>
              </a:defRPr>
            </a:pPr>
            <a:r>
              <a:rPr dirty="0"/>
              <a:t>Design principles: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Interpretable (aligned with domain expert mechanisms)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Learns general rules from specific patterns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Works with very limited ground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400800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rPr lang="en-US" sz="1100">
                <a:solidFill>
                  <a:srgbClr val="555555"/>
                </a:solidFill>
              </a:rPr>
              <a:t>6/13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13E5C9-E87C-60D0-AA2C-399DC6D18753}"/>
              </a:ext>
            </a:extLst>
          </p:cNvPr>
          <p:cNvSpPr/>
          <p:nvPr/>
        </p:nvSpPr>
        <p:spPr>
          <a:xfrm>
            <a:off x="6858000" y="3616036"/>
            <a:ext cx="2978727" cy="15023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0403C5-2511-23B0-2BD3-AA596008A5AE}"/>
              </a:ext>
            </a:extLst>
          </p:cNvPr>
          <p:cNvSpPr/>
          <p:nvPr/>
        </p:nvSpPr>
        <p:spPr>
          <a:xfrm>
            <a:off x="9684327" y="2119749"/>
            <a:ext cx="2433103" cy="32189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Design: Rule-Based Filters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50000" y="1100000"/>
            <a:ext cx="0" cy="4700000"/>
          </a:xfrm>
          <a:prstGeom prst="line">
            <a:avLst/>
          </a:prstGeom>
          <a:ln w="12700">
            <a:solidFill>
              <a:srgbClr val="BBBBB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100000"/>
            <a:ext cx="454162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3A6B"/>
                </a:solidFill>
              </a:defRPr>
            </a:pPr>
            <a:r>
              <a:rPr sz="2000" dirty="0"/>
              <a:t>Expert-configured rule (static thresholds)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59112"/>
            <a:ext cx="5200000" cy="85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80000" rtlCol="0" anchor="ctr"/>
          <a:lstStyle/>
          <a:p>
            <a:pPr algn="ctr"/>
            <a:r>
              <a:rPr sz="1300" dirty="0">
                <a:solidFill>
                  <a:srgbClr val="000000"/>
                </a:solidFill>
              </a:rPr>
              <a:t>Flag CDN as root cause if:</a:t>
            </a:r>
          </a:p>
          <a:p>
            <a:pPr>
              <a:defRPr sz="1300" b="1">
                <a:solidFill>
                  <a:srgbClr val="444444"/>
                </a:solidFill>
              </a:defRPr>
            </a:pPr>
            <a:r>
              <a:rPr dirty="0"/>
              <a:t>   Impacted ASNs &gt; 50%  AND  Impacted Traffic ≥ 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9112"/>
            <a:ext cx="275036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CC3333"/>
                </a:solidFill>
              </a:rPr>
              <a:t>Scenario: real issue with CDN</a:t>
            </a:r>
            <a:r>
              <a:rPr sz="1600" b="1" baseline="-25000" dirty="0">
                <a:solidFill>
                  <a:srgbClr val="CC3333"/>
                </a:solidFill>
              </a:rPr>
              <a:t>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59112"/>
            <a:ext cx="5200000" cy="1100000"/>
          </a:xfrm>
          <a:prstGeom prst="roundRect">
            <a:avLst/>
          </a:prstGeom>
          <a:solidFill>
            <a:srgbClr val="FFE0E0"/>
          </a:solidFill>
          <a:ln w="1905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tlCol="0" anchor="ctr"/>
          <a:lstStyle/>
          <a:p>
            <a:pPr algn="ctr">
              <a:defRPr sz="1200">
                <a:solidFill>
                  <a:srgbClr val="CC3333"/>
                </a:solidFill>
              </a:defRPr>
            </a:pPr>
            <a:r>
              <a:rPr dirty="0"/>
              <a:t>Impacted ASNs:   48%      ✗ (below 50% threshold)</a:t>
            </a:r>
          </a:p>
          <a:p>
            <a:pPr>
              <a:spcBef>
                <a:spcPts val="600"/>
              </a:spcBef>
              <a:defRPr sz="1200">
                <a:solidFill>
                  <a:srgbClr val="1E8C45"/>
                </a:solidFill>
              </a:defRPr>
            </a:pPr>
            <a:r>
              <a:rPr dirty="0"/>
              <a:t>Impacted Traffic:  85%      ✓ (above 70% threshold)</a:t>
            </a:r>
          </a:p>
          <a:p>
            <a:pPr>
              <a:spcBef>
                <a:spcPts val="1000"/>
              </a:spcBef>
              <a:defRPr sz="1300" b="1">
                <a:solidFill>
                  <a:srgbClr val="CC3333"/>
                </a:solidFill>
              </a:defRPr>
            </a:pPr>
            <a:r>
              <a:rPr dirty="0"/>
              <a:t>→ Rule says: NOT a root cause (missed!)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08447"/>
            <a:ext cx="51999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55555"/>
                </a:solidFill>
              </a:defRPr>
            </a:pPr>
            <a:r>
              <a:rPr sz="2000" dirty="0"/>
              <a:t>Static thresholds are brittle — small misses cause false negatives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0" y="1100000"/>
            <a:ext cx="446308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8C45"/>
                </a:solidFill>
              </a:defRPr>
            </a:pPr>
            <a:r>
              <a:rPr sz="2000" dirty="0"/>
              <a:t>Beagle: learns thresholds from feedback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0000" y="1681690"/>
            <a:ext cx="5500000" cy="850000"/>
          </a:xfrm>
          <a:prstGeom prst="roundRect">
            <a:avLst/>
          </a:prstGeom>
          <a:solidFill>
            <a:srgbClr val="E0F5E0"/>
          </a:solidFill>
          <a:ln w="19050">
            <a:solidFill>
              <a:srgbClr val="1E8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80000" rtlCol="0" anchor="ctr"/>
          <a:lstStyle/>
          <a:p>
            <a:pPr algn="ctr">
              <a:defRPr sz="1300">
                <a:solidFill>
                  <a:srgbClr val="000000"/>
                </a:solidFill>
              </a:defRPr>
            </a:pPr>
            <a:r>
              <a:t>Same rule structure, learned thresholds:</a:t>
            </a:r>
          </a:p>
          <a:p>
            <a:pPr>
              <a:spcBef>
                <a:spcPts val="400"/>
              </a:spcBef>
              <a:defRPr sz="1300" b="1">
                <a:solidFill>
                  <a:srgbClr val="226622"/>
                </a:solidFill>
              </a:defRPr>
            </a:pPr>
            <a:r>
              <a:t>   Impacted ASNs &gt; 40%  AND  Impacted Traffic ≥ 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0000" y="2711690"/>
            <a:ext cx="378578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8C45"/>
                </a:solidFill>
              </a:defRPr>
            </a:pPr>
            <a:r>
              <a:rPr sz="1600" dirty="0"/>
              <a:t>Same scenario → now correctly identified: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0000" y="3081690"/>
            <a:ext cx="5500000" cy="1100000"/>
          </a:xfrm>
          <a:prstGeom prst="roundRect">
            <a:avLst/>
          </a:prstGeom>
          <a:solidFill>
            <a:srgbClr val="E0F5E0"/>
          </a:solidFill>
          <a:ln w="19050">
            <a:solidFill>
              <a:srgbClr val="1E8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tlCol="0" anchor="ctr"/>
          <a:lstStyle/>
          <a:p>
            <a:pPr algn="ctr">
              <a:defRPr sz="1200">
                <a:solidFill>
                  <a:srgbClr val="1E8C45"/>
                </a:solidFill>
              </a:defRPr>
            </a:pPr>
            <a:r>
              <a:t>Impacted ASNs:   48%      ✓ (above 40% threshold)</a:t>
            </a:r>
          </a:p>
          <a:p>
            <a:pPr>
              <a:spcBef>
                <a:spcPts val="600"/>
              </a:spcBef>
              <a:defRPr sz="1200">
                <a:solidFill>
                  <a:srgbClr val="1E8C45"/>
                </a:solidFill>
              </a:defRPr>
            </a:pPr>
            <a:r>
              <a:t>Impacted Traffic:  85%      ✓ (above 70% threshold)</a:t>
            </a:r>
          </a:p>
          <a:p>
            <a:pPr>
              <a:spcBef>
                <a:spcPts val="1000"/>
              </a:spcBef>
              <a:defRPr sz="1300" b="1">
                <a:solidFill>
                  <a:srgbClr val="1E8C45"/>
                </a:solidFill>
              </a:defRPr>
            </a:pPr>
            <a:r>
              <a:t>→ Correctly flagged as root cause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999" y="4361690"/>
            <a:ext cx="5845237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rPr sz="2000" dirty="0"/>
              <a:t>Key properties:</a:t>
            </a:r>
          </a:p>
          <a:p>
            <a:pPr>
              <a:spcBef>
                <a:spcPts val="400"/>
              </a:spcBef>
              <a:defRPr sz="1200">
                <a:solidFill>
                  <a:srgbClr val="000000"/>
                </a:solidFill>
              </a:defRPr>
            </a:pPr>
            <a:r>
              <a:rPr sz="2000" dirty="0"/>
              <a:t>• Same rule structure experts use → interpretable</a:t>
            </a:r>
          </a:p>
          <a:p>
            <a:pPr>
              <a:spcBef>
                <a:spcPts val="400"/>
              </a:spcBef>
              <a:defRPr sz="1200">
                <a:solidFill>
                  <a:srgbClr val="000000"/>
                </a:solidFill>
              </a:defRPr>
            </a:pPr>
            <a:r>
              <a:rPr sz="2000" dirty="0"/>
              <a:t>• Thresholds tuned automatically from ground truth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IWQoS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400" y="6400800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7/13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75A49F-2809-3AEB-7526-49F32065FF7F}"/>
              </a:ext>
            </a:extLst>
          </p:cNvPr>
          <p:cNvSpPr/>
          <p:nvPr/>
        </p:nvSpPr>
        <p:spPr>
          <a:xfrm>
            <a:off x="1" y="5623404"/>
            <a:ext cx="12192000" cy="706326"/>
          </a:xfrm>
          <a:prstGeom prst="rect">
            <a:avLst/>
          </a:prstGeom>
          <a:solidFill>
            <a:srgbClr val="1B3A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Smooth approximations of yes/no rules let us use standard ML optimization to find the best thresholds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Design: Graph-Based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IWQoS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64008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000000"/>
                </a:solidFill>
              </a:defRPr>
            </a:pPr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0000"/>
                </a:solidFill>
              </a:defRPr>
            </a:pPr>
            <a:r>
              <a:rPr dirty="0"/>
              <a:t>Template Graph → Unrolled Graph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Template: generic </a:t>
            </a:r>
            <a:r>
              <a:rPr lang="en-US" dirty="0"/>
              <a:t>dimensional</a:t>
            </a:r>
            <a:r>
              <a:rPr dirty="0"/>
              <a:t> relationships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Unrolled: specific values from observed data</a:t>
            </a:r>
            <a:endParaRPr lang="en-US" dirty="0"/>
          </a:p>
          <a:p>
            <a:pPr lvl="1"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endParaRPr lang="en-US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0000"/>
                </a:solidFill>
              </a:defRPr>
            </a:pPr>
            <a:r>
              <a:rPr lang="en-US" dirty="0"/>
              <a:t>Learned from Data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lang="en-US" dirty="0"/>
              <a:t>Edges as weights (relationship between dimensions)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lang="en-US" dirty="0"/>
              <a:t>Shared weights across all instances of the same type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endParaRPr lang="en-US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0000"/>
                </a:solidFill>
              </a:defRPr>
            </a:pPr>
            <a:r>
              <a:rPr lang="en-US" dirty="0"/>
              <a:t>Two types of graph rules: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lang="en-US" b="1" dirty="0" err="1"/>
              <a:t>ChildFiltersParent</a:t>
            </a:r>
            <a:r>
              <a:rPr lang="en-US" dirty="0"/>
              <a:t> </a:t>
            </a:r>
            <a:r>
              <a:rPr lang="en-US" i="1" dirty="0">
                <a:solidFill>
                  <a:srgbClr val="555555"/>
                </a:solidFill>
              </a:rPr>
              <a:t>— "more specific wins”</a:t>
            </a:r>
            <a:endParaRPr lang="en-US" dirty="0"/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lang="en-US" b="1" dirty="0" err="1"/>
              <a:t>ParentFiltersChild</a:t>
            </a:r>
            <a:r>
              <a:rPr lang="en-US" i="1" dirty="0">
                <a:solidFill>
                  <a:srgbClr val="555555"/>
                </a:solidFill>
              </a:rPr>
              <a:t> — "broad context validates specific"</a:t>
            </a:r>
            <a:endParaRPr dirty="0"/>
          </a:p>
          <a:p>
            <a:pPr>
              <a:spcAft>
                <a:spcPts val="600"/>
              </a:spcAft>
              <a:defRPr sz="2000"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820400" y="6400800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rPr lang="en-US" sz="1100">
                <a:solidFill>
                  <a:srgbClr val="555555"/>
                </a:solidFill>
              </a:rPr>
              <a:t>8/13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AA9DF6E-DE3A-1798-E89D-E093B6B4E6FC}"/>
              </a:ext>
            </a:extLst>
          </p:cNvPr>
          <p:cNvGrpSpPr/>
          <p:nvPr/>
        </p:nvGrpSpPr>
        <p:grpSpPr>
          <a:xfrm>
            <a:off x="6557342" y="1597705"/>
            <a:ext cx="2081876" cy="3800000"/>
            <a:chOff x="800000" y="1050000"/>
            <a:chExt cx="4000000" cy="410000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71EFF5A-29DC-0AB3-9954-61C3FA6C2BE2}"/>
                </a:ext>
              </a:extLst>
            </p:cNvPr>
            <p:cNvSpPr txBox="1"/>
            <p:nvPr/>
          </p:nvSpPr>
          <p:spPr>
            <a:xfrm>
              <a:off x="800000" y="1050000"/>
              <a:ext cx="4000000" cy="40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600" b="1">
                  <a:solidFill>
                    <a:srgbClr val="1B3A6B"/>
                  </a:solidFill>
                </a:defRPr>
              </a:pPr>
              <a:r>
                <a:rPr dirty="0"/>
                <a:t>Template Graph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A15E0F-AA03-48D3-0A47-1E7A081678E7}"/>
                </a:ext>
              </a:extLst>
            </p:cNvPr>
            <p:cNvSpPr txBox="1"/>
            <p:nvPr/>
          </p:nvSpPr>
          <p:spPr>
            <a:xfrm>
              <a:off x="800000" y="1350000"/>
              <a:ext cx="4000000" cy="35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 i="1">
                  <a:solidFill>
                    <a:srgbClr val="555555"/>
                  </a:solidFill>
                </a:defRPr>
              </a:pPr>
              <a:r>
                <a:t>Learn one weight per relationship type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8D3D4D46-E58E-81CD-0971-C186D78CA096}"/>
                </a:ext>
              </a:extLst>
            </p:cNvPr>
            <p:cNvSpPr/>
            <p:nvPr/>
          </p:nvSpPr>
          <p:spPr>
            <a:xfrm>
              <a:off x="1900000" y="1900000"/>
              <a:ext cx="1800000" cy="650000"/>
            </a:xfrm>
            <a:prstGeom prst="roundRect">
              <a:avLst/>
            </a:prstGeom>
            <a:solidFill>
              <a:srgbClr val="D6EAF8"/>
            </a:solidFill>
            <a:ln w="25400">
              <a:solidFill>
                <a:srgbClr val="2E86A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600" b="1">
                  <a:solidFill>
                    <a:srgbClr val="2E86AB"/>
                  </a:solidFill>
                </a:defRPr>
              </a:pPr>
              <a:r>
                <a:t>CDN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0744C949-9C30-EE30-C4A2-2E780556F089}"/>
                </a:ext>
              </a:extLst>
            </p:cNvPr>
            <p:cNvSpPr/>
            <p:nvPr/>
          </p:nvSpPr>
          <p:spPr>
            <a:xfrm>
              <a:off x="1900000" y="3200000"/>
              <a:ext cx="1800000" cy="650000"/>
            </a:xfrm>
            <a:prstGeom prst="roundRect">
              <a:avLst/>
            </a:prstGeom>
            <a:solidFill>
              <a:srgbClr val="EBDEF0"/>
            </a:solidFill>
            <a:ln w="25400">
              <a:solidFill>
                <a:srgbClr val="8E44A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600" b="1">
                  <a:solidFill>
                    <a:srgbClr val="8E44AD"/>
                  </a:solidFill>
                </a:defRPr>
              </a:pPr>
              <a:r>
                <a:rPr dirty="0"/>
                <a:t>ASN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F45E6CB1-D3A7-FB92-2834-6AAFFF9C4195}"/>
                </a:ext>
              </a:extLst>
            </p:cNvPr>
            <p:cNvSpPr/>
            <p:nvPr/>
          </p:nvSpPr>
          <p:spPr>
            <a:xfrm>
              <a:off x="1900000" y="4500000"/>
              <a:ext cx="1800000" cy="650000"/>
            </a:xfrm>
            <a:prstGeom prst="roundRect">
              <a:avLst/>
            </a:prstGeom>
            <a:solidFill>
              <a:srgbClr val="D5F5E3"/>
            </a:solidFill>
            <a:ln w="25400">
              <a:solidFill>
                <a:srgbClr val="27AE6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600" b="1">
                  <a:solidFill>
                    <a:srgbClr val="27AE60"/>
                  </a:solidFill>
                </a:defRPr>
              </a:pPr>
              <a:r>
                <a:t>Device</a:t>
              </a:r>
            </a:p>
          </p:txBody>
        </p:sp>
        <p:cxnSp>
          <p:nvCxnSpPr>
            <p:cNvPr id="14" name="Connector 12">
              <a:extLst>
                <a:ext uri="{FF2B5EF4-FFF2-40B4-BE49-F238E27FC236}">
                  <a16:creationId xmlns:a16="http://schemas.microsoft.com/office/drawing/2014/main" id="{A506BA9D-AB97-291D-9885-CC106D308B0A}"/>
                </a:ext>
              </a:extLst>
            </p:cNvPr>
            <p:cNvCxnSpPr/>
            <p:nvPr/>
          </p:nvCxnSpPr>
          <p:spPr>
            <a:xfrm>
              <a:off x="2800000" y="2550000"/>
              <a:ext cx="0" cy="650000"/>
            </a:xfrm>
            <a:prstGeom prst="line">
              <a:avLst/>
            </a:prstGeom>
            <a:ln w="31750">
              <a:solidFill>
                <a:srgbClr val="E67E22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3CD7674-33A5-FE94-5D91-62C9FF7998E0}"/>
                </a:ext>
              </a:extLst>
            </p:cNvPr>
            <p:cNvSpPr txBox="1"/>
            <p:nvPr/>
          </p:nvSpPr>
          <p:spPr>
            <a:xfrm>
              <a:off x="2900000" y="2600000"/>
              <a:ext cx="600000" cy="30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300" b="1">
                  <a:solidFill>
                    <a:srgbClr val="E67E22"/>
                  </a:solidFill>
                </a:defRPr>
              </a:pPr>
              <a:r>
                <a:t>w₁</a:t>
              </a:r>
            </a:p>
          </p:txBody>
        </p:sp>
        <p:cxnSp>
          <p:nvCxnSpPr>
            <p:cNvPr id="16" name="Connector 14">
              <a:extLst>
                <a:ext uri="{FF2B5EF4-FFF2-40B4-BE49-F238E27FC236}">
                  <a16:creationId xmlns:a16="http://schemas.microsoft.com/office/drawing/2014/main" id="{76B1F866-218A-A906-D36B-99A64D2262CE}"/>
                </a:ext>
              </a:extLst>
            </p:cNvPr>
            <p:cNvCxnSpPr/>
            <p:nvPr/>
          </p:nvCxnSpPr>
          <p:spPr>
            <a:xfrm>
              <a:off x="2800000" y="3850000"/>
              <a:ext cx="0" cy="650000"/>
            </a:xfrm>
            <a:prstGeom prst="line">
              <a:avLst/>
            </a:prstGeom>
            <a:ln w="31750">
              <a:solidFill>
                <a:srgbClr val="E67E22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C0820D4-B6FB-9BC0-20CC-02DD43E6AB9D}"/>
                </a:ext>
              </a:extLst>
            </p:cNvPr>
            <p:cNvSpPr txBox="1"/>
            <p:nvPr/>
          </p:nvSpPr>
          <p:spPr>
            <a:xfrm>
              <a:off x="2900000" y="3900000"/>
              <a:ext cx="600000" cy="30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300" b="1">
                  <a:solidFill>
                    <a:srgbClr val="E67E22"/>
                  </a:solidFill>
                </a:defRPr>
              </a:pPr>
              <a:r>
                <a:t>w₂</a:t>
              </a:r>
            </a:p>
          </p:txBody>
        </p:sp>
      </p:grpSp>
      <p:cxnSp>
        <p:nvCxnSpPr>
          <p:cNvPr id="18" name="Connector 4">
            <a:extLst>
              <a:ext uri="{FF2B5EF4-FFF2-40B4-BE49-F238E27FC236}">
                <a16:creationId xmlns:a16="http://schemas.microsoft.com/office/drawing/2014/main" id="{BECE6FDB-BD30-076A-FA43-BF6A80F9171E}"/>
              </a:ext>
            </a:extLst>
          </p:cNvPr>
          <p:cNvCxnSpPr/>
          <p:nvPr/>
        </p:nvCxnSpPr>
        <p:spPr>
          <a:xfrm>
            <a:off x="8722227" y="1449959"/>
            <a:ext cx="0" cy="5000000"/>
          </a:xfrm>
          <a:prstGeom prst="line">
            <a:avLst/>
          </a:prstGeom>
          <a:ln w="12700">
            <a:solidFill>
              <a:srgbClr val="BBBBB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6E655C4-2069-50EF-B0F1-2C1DA59DA8ED}"/>
              </a:ext>
            </a:extLst>
          </p:cNvPr>
          <p:cNvGrpSpPr/>
          <p:nvPr/>
        </p:nvGrpSpPr>
        <p:grpSpPr>
          <a:xfrm>
            <a:off x="8992828" y="1575127"/>
            <a:ext cx="2970572" cy="3800000"/>
            <a:chOff x="6200000" y="1050000"/>
            <a:chExt cx="5500000" cy="380000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38F0012-3B79-DF5A-4540-DC2BD86E2206}"/>
                </a:ext>
              </a:extLst>
            </p:cNvPr>
            <p:cNvSpPr txBox="1"/>
            <p:nvPr/>
          </p:nvSpPr>
          <p:spPr>
            <a:xfrm>
              <a:off x="8203642" y="1050000"/>
              <a:ext cx="1492716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600" b="1">
                  <a:solidFill>
                    <a:srgbClr val="1B3A6B"/>
                  </a:solidFill>
                </a:defRPr>
              </a:pPr>
              <a:r>
                <a:rPr dirty="0"/>
                <a:t>Unrolled Graph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C3BAB5E-ADEB-7A95-782A-7851E1B40D74}"/>
                </a:ext>
              </a:extLst>
            </p:cNvPr>
            <p:cNvSpPr txBox="1"/>
            <p:nvPr/>
          </p:nvSpPr>
          <p:spPr>
            <a:xfrm>
              <a:off x="6200000" y="1350000"/>
              <a:ext cx="5500000" cy="35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 i="1">
                  <a:solidFill>
                    <a:srgbClr val="555555"/>
                  </a:solidFill>
                </a:defRPr>
              </a:pPr>
              <a:r>
                <a:t>Shared weights applied to specific instances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C6D8DE0D-F1F8-137D-4157-C87FFF454DA2}"/>
                </a:ext>
              </a:extLst>
            </p:cNvPr>
            <p:cNvSpPr/>
            <p:nvPr/>
          </p:nvSpPr>
          <p:spPr>
            <a:xfrm>
              <a:off x="6900000" y="1900000"/>
              <a:ext cx="1400000" cy="550000"/>
            </a:xfrm>
            <a:prstGeom prst="roundRect">
              <a:avLst/>
            </a:prstGeom>
            <a:solidFill>
              <a:srgbClr val="FFCCCC"/>
            </a:solidFill>
            <a:ln w="25400">
              <a:solidFill>
                <a:srgbClr val="CC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300" b="1">
                  <a:solidFill>
                    <a:srgbClr val="CC3333"/>
                  </a:solidFill>
                </a:rPr>
                <a:t>CDN</a:t>
              </a:r>
              <a:r>
                <a:rPr sz="900" b="1" baseline="-25000">
                  <a:solidFill>
                    <a:srgbClr val="CC3333"/>
                  </a:solidFill>
                </a:rPr>
                <a:t>A</a:t>
              </a: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4A9937FD-9581-4564-ABBA-EFE86A67B0AF}"/>
                </a:ext>
              </a:extLst>
            </p:cNvPr>
            <p:cNvSpPr/>
            <p:nvPr/>
          </p:nvSpPr>
          <p:spPr>
            <a:xfrm>
              <a:off x="9700000" y="1900000"/>
              <a:ext cx="1400000" cy="550000"/>
            </a:xfrm>
            <a:prstGeom prst="roundRect">
              <a:avLst/>
            </a:prstGeom>
            <a:solidFill>
              <a:srgbClr val="D6EAF8"/>
            </a:solidFill>
            <a:ln w="25400">
              <a:solidFill>
                <a:srgbClr val="2E86A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300" b="1">
                  <a:solidFill>
                    <a:srgbClr val="2E86AB"/>
                  </a:solidFill>
                </a:rPr>
                <a:t>CDN</a:t>
              </a:r>
              <a:r>
                <a:rPr sz="900" b="1" baseline="-25000">
                  <a:solidFill>
                    <a:srgbClr val="2E86AB"/>
                  </a:solidFill>
                </a:rPr>
                <a:t>B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ED192D11-09E6-9848-8DD6-B9B7CC42C43E}"/>
                </a:ext>
              </a:extLst>
            </p:cNvPr>
            <p:cNvSpPr/>
            <p:nvPr/>
          </p:nvSpPr>
          <p:spPr>
            <a:xfrm>
              <a:off x="6400000" y="3100000"/>
              <a:ext cx="1400000" cy="550000"/>
            </a:xfrm>
            <a:prstGeom prst="roundRect">
              <a:avLst/>
            </a:prstGeom>
            <a:solidFill>
              <a:srgbClr val="EBDEF0"/>
            </a:solidFill>
            <a:ln w="19050">
              <a:solidFill>
                <a:srgbClr val="8E44A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300" b="1">
                  <a:solidFill>
                    <a:srgbClr val="8E44AD"/>
                  </a:solidFill>
                </a:rPr>
                <a:t>ASN</a:t>
              </a:r>
              <a:r>
                <a:rPr sz="900" b="1" baseline="-25000">
                  <a:solidFill>
                    <a:srgbClr val="8E44AD"/>
                  </a:solidFill>
                </a:rPr>
                <a:t>1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0D354CEB-9F59-4610-4F7D-D4C4FAAEE582}"/>
                </a:ext>
              </a:extLst>
            </p:cNvPr>
            <p:cNvSpPr/>
            <p:nvPr/>
          </p:nvSpPr>
          <p:spPr>
            <a:xfrm>
              <a:off x="8300000" y="3100000"/>
              <a:ext cx="1400000" cy="550000"/>
            </a:xfrm>
            <a:prstGeom prst="roundRect">
              <a:avLst/>
            </a:prstGeom>
            <a:solidFill>
              <a:srgbClr val="FFCCCC"/>
            </a:solidFill>
            <a:ln w="31750">
              <a:solidFill>
                <a:srgbClr val="CC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300" b="1">
                  <a:solidFill>
                    <a:srgbClr val="CC3333"/>
                  </a:solidFill>
                </a:rPr>
                <a:t>ASN</a:t>
              </a:r>
              <a:r>
                <a:rPr sz="900" b="1" baseline="-25000">
                  <a:solidFill>
                    <a:srgbClr val="CC3333"/>
                  </a:solidFill>
                </a:rPr>
                <a:t>2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AAA05F93-4530-A067-EC54-C4C803201E07}"/>
                </a:ext>
              </a:extLst>
            </p:cNvPr>
            <p:cNvSpPr/>
            <p:nvPr/>
          </p:nvSpPr>
          <p:spPr>
            <a:xfrm>
              <a:off x="10200000" y="3100000"/>
              <a:ext cx="1400000" cy="550000"/>
            </a:xfrm>
            <a:prstGeom prst="roundRect">
              <a:avLst/>
            </a:prstGeom>
            <a:solidFill>
              <a:srgbClr val="EBDEF0"/>
            </a:solidFill>
            <a:ln w="19050">
              <a:solidFill>
                <a:srgbClr val="8E44A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300" b="1">
                  <a:solidFill>
                    <a:srgbClr val="8E44AD"/>
                  </a:solidFill>
                </a:rPr>
                <a:t>ASN</a:t>
              </a:r>
              <a:r>
                <a:rPr sz="900" b="1" baseline="-25000">
                  <a:solidFill>
                    <a:srgbClr val="8E44AD"/>
                  </a:solidFill>
                </a:rPr>
                <a:t>3</a:t>
              </a: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8B967366-6731-250B-F863-3EB7B2E897A5}"/>
                </a:ext>
              </a:extLst>
            </p:cNvPr>
            <p:cNvSpPr/>
            <p:nvPr/>
          </p:nvSpPr>
          <p:spPr>
            <a:xfrm>
              <a:off x="6900000" y="4300000"/>
              <a:ext cx="1400000" cy="550000"/>
            </a:xfrm>
            <a:prstGeom prst="roundRect">
              <a:avLst/>
            </a:prstGeom>
            <a:solidFill>
              <a:srgbClr val="D5F5E3"/>
            </a:solidFill>
            <a:ln w="19050">
              <a:solidFill>
                <a:srgbClr val="27AE6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defRPr sz="1300" b="1">
                  <a:solidFill>
                    <a:srgbClr val="27AE60"/>
                  </a:solidFill>
                </a:defRPr>
              </a:pPr>
              <a:r>
                <a:t>Desktop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9AF2065E-7052-769D-CA3B-B61083A60BB8}"/>
                </a:ext>
              </a:extLst>
            </p:cNvPr>
            <p:cNvSpPr/>
            <p:nvPr/>
          </p:nvSpPr>
          <p:spPr>
            <a:xfrm>
              <a:off x="9700000" y="4300000"/>
              <a:ext cx="1400000" cy="550000"/>
            </a:xfrm>
            <a:prstGeom prst="roundRect">
              <a:avLst/>
            </a:prstGeom>
            <a:solidFill>
              <a:srgbClr val="D5F5E3"/>
            </a:solidFill>
            <a:ln w="19050">
              <a:solidFill>
                <a:srgbClr val="27AE6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defRPr sz="1300" b="1">
                  <a:solidFill>
                    <a:srgbClr val="27AE60"/>
                  </a:solidFill>
                </a:defRPr>
              </a:pPr>
              <a:r>
                <a:t>Smart TV</a:t>
              </a:r>
            </a:p>
          </p:txBody>
        </p:sp>
        <p:cxnSp>
          <p:nvCxnSpPr>
            <p:cNvPr id="29" name="Connector 23">
              <a:extLst>
                <a:ext uri="{FF2B5EF4-FFF2-40B4-BE49-F238E27FC236}">
                  <a16:creationId xmlns:a16="http://schemas.microsoft.com/office/drawing/2014/main" id="{043578EA-1114-2067-192D-3D98E70F7A88}"/>
                </a:ext>
              </a:extLst>
            </p:cNvPr>
            <p:cNvCxnSpPr/>
            <p:nvPr/>
          </p:nvCxnSpPr>
          <p:spPr>
            <a:xfrm flipH="1">
              <a:off x="7100000" y="2450000"/>
              <a:ext cx="300000" cy="650000"/>
            </a:xfrm>
            <a:prstGeom prst="line">
              <a:avLst/>
            </a:prstGeom>
            <a:ln w="19050">
              <a:solidFill>
                <a:srgbClr val="E67E22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4">
              <a:extLst>
                <a:ext uri="{FF2B5EF4-FFF2-40B4-BE49-F238E27FC236}">
                  <a16:creationId xmlns:a16="http://schemas.microsoft.com/office/drawing/2014/main" id="{19E6C775-83E9-E91B-9190-F5FD77BE3B1A}"/>
                </a:ext>
              </a:extLst>
            </p:cNvPr>
            <p:cNvCxnSpPr/>
            <p:nvPr/>
          </p:nvCxnSpPr>
          <p:spPr>
            <a:xfrm>
              <a:off x="7800000" y="2450000"/>
              <a:ext cx="1200000" cy="650000"/>
            </a:xfrm>
            <a:prstGeom prst="line">
              <a:avLst/>
            </a:prstGeom>
            <a:ln w="31750">
              <a:solidFill>
                <a:srgbClr val="CC3333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25">
              <a:extLst>
                <a:ext uri="{FF2B5EF4-FFF2-40B4-BE49-F238E27FC236}">
                  <a16:creationId xmlns:a16="http://schemas.microsoft.com/office/drawing/2014/main" id="{51703DC0-70F0-5021-B52F-2E7DE56E2314}"/>
                </a:ext>
              </a:extLst>
            </p:cNvPr>
            <p:cNvCxnSpPr/>
            <p:nvPr/>
          </p:nvCxnSpPr>
          <p:spPr>
            <a:xfrm flipH="1">
              <a:off x="9300000" y="2450000"/>
              <a:ext cx="900000" cy="650000"/>
            </a:xfrm>
            <a:prstGeom prst="line">
              <a:avLst/>
            </a:prstGeom>
            <a:ln w="25400">
              <a:solidFill>
                <a:srgbClr val="CC3333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26">
              <a:extLst>
                <a:ext uri="{FF2B5EF4-FFF2-40B4-BE49-F238E27FC236}">
                  <a16:creationId xmlns:a16="http://schemas.microsoft.com/office/drawing/2014/main" id="{7663F13F-8752-3E91-1E55-067588AA1426}"/>
                </a:ext>
              </a:extLst>
            </p:cNvPr>
            <p:cNvCxnSpPr/>
            <p:nvPr/>
          </p:nvCxnSpPr>
          <p:spPr>
            <a:xfrm>
              <a:off x="10600000" y="2450000"/>
              <a:ext cx="300000" cy="650000"/>
            </a:xfrm>
            <a:prstGeom prst="line">
              <a:avLst/>
            </a:prstGeom>
            <a:ln w="19050">
              <a:solidFill>
                <a:srgbClr val="E67E22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27">
              <a:extLst>
                <a:ext uri="{FF2B5EF4-FFF2-40B4-BE49-F238E27FC236}">
                  <a16:creationId xmlns:a16="http://schemas.microsoft.com/office/drawing/2014/main" id="{3E43C452-928C-E398-B59D-D7EDA7924694}"/>
                </a:ext>
              </a:extLst>
            </p:cNvPr>
            <p:cNvCxnSpPr/>
            <p:nvPr/>
          </p:nvCxnSpPr>
          <p:spPr>
            <a:xfrm>
              <a:off x="7100000" y="3650000"/>
              <a:ext cx="300000" cy="650000"/>
            </a:xfrm>
            <a:prstGeom prst="line">
              <a:avLst/>
            </a:prstGeom>
            <a:ln w="19050">
              <a:solidFill>
                <a:srgbClr val="E67E22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 28">
              <a:extLst>
                <a:ext uri="{FF2B5EF4-FFF2-40B4-BE49-F238E27FC236}">
                  <a16:creationId xmlns:a16="http://schemas.microsoft.com/office/drawing/2014/main" id="{3CC67E11-321F-712D-4959-C53B1C8AC94C}"/>
                </a:ext>
              </a:extLst>
            </p:cNvPr>
            <p:cNvCxnSpPr/>
            <p:nvPr/>
          </p:nvCxnSpPr>
          <p:spPr>
            <a:xfrm flipH="1">
              <a:off x="7800000" y="3650000"/>
              <a:ext cx="1000000" cy="650000"/>
            </a:xfrm>
            <a:prstGeom prst="line">
              <a:avLst/>
            </a:prstGeom>
            <a:ln w="25400">
              <a:solidFill>
                <a:srgbClr val="CC3333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29">
              <a:extLst>
                <a:ext uri="{FF2B5EF4-FFF2-40B4-BE49-F238E27FC236}">
                  <a16:creationId xmlns:a16="http://schemas.microsoft.com/office/drawing/2014/main" id="{74C2E9FA-3A95-428E-8B1C-240FB581F0B5}"/>
                </a:ext>
              </a:extLst>
            </p:cNvPr>
            <p:cNvCxnSpPr/>
            <p:nvPr/>
          </p:nvCxnSpPr>
          <p:spPr>
            <a:xfrm>
              <a:off x="9200000" y="3650000"/>
              <a:ext cx="1000000" cy="650000"/>
            </a:xfrm>
            <a:prstGeom prst="line">
              <a:avLst/>
            </a:prstGeom>
            <a:ln w="25400">
              <a:solidFill>
                <a:srgbClr val="CC3333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30">
              <a:extLst>
                <a:ext uri="{FF2B5EF4-FFF2-40B4-BE49-F238E27FC236}">
                  <a16:creationId xmlns:a16="http://schemas.microsoft.com/office/drawing/2014/main" id="{C6C42E6A-8EA1-8328-AF8C-6A3D1EEEF8FE}"/>
                </a:ext>
              </a:extLst>
            </p:cNvPr>
            <p:cNvCxnSpPr/>
            <p:nvPr/>
          </p:nvCxnSpPr>
          <p:spPr>
            <a:xfrm flipH="1">
              <a:off x="10600000" y="3650000"/>
              <a:ext cx="300000" cy="650000"/>
            </a:xfrm>
            <a:prstGeom prst="line">
              <a:avLst/>
            </a:prstGeom>
            <a:ln w="19050">
              <a:solidFill>
                <a:srgbClr val="E67E22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3E2E592-A028-A918-ABC3-73A0EC024F0E}"/>
              </a:ext>
            </a:extLst>
          </p:cNvPr>
          <p:cNvSpPr txBox="1"/>
          <p:nvPr/>
        </p:nvSpPr>
        <p:spPr>
          <a:xfrm>
            <a:off x="6489609" y="5529555"/>
            <a:ext cx="2176508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55555"/>
                </a:solidFill>
              </a:defRPr>
            </a:pPr>
            <a:r>
              <a:rPr dirty="0"/>
              <a:t>Shared parameters: all CDN→ASN edges use w₁</a:t>
            </a:r>
            <a:endParaRPr lang="en-US" dirty="0"/>
          </a:p>
          <a:p>
            <a:pPr algn="ctr">
              <a:defRPr sz="1100" i="1">
                <a:solidFill>
                  <a:srgbClr val="555555"/>
                </a:solidFill>
              </a:defRPr>
            </a:pPr>
            <a:endParaRPr dirty="0"/>
          </a:p>
          <a:p>
            <a:pPr algn="ctr">
              <a:defRPr sz="1100" i="1">
                <a:solidFill>
                  <a:srgbClr val="555555"/>
                </a:solidFill>
              </a:defRPr>
            </a:pPr>
            <a:r>
              <a:rPr dirty="0"/>
              <a:t>Generalizes from specific examples to new instances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89BB8D-282F-99F0-8AEC-EC7020603384}"/>
              </a:ext>
            </a:extLst>
          </p:cNvPr>
          <p:cNvSpPr txBox="1"/>
          <p:nvPr/>
        </p:nvSpPr>
        <p:spPr>
          <a:xfrm>
            <a:off x="8812206" y="5269335"/>
            <a:ext cx="3377308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1100" b="1" dirty="0" err="1">
                <a:solidFill>
                  <a:srgbClr val="CC3333"/>
                </a:solidFill>
              </a:rPr>
              <a:t>ChildFiltersParent</a:t>
            </a:r>
            <a:r>
              <a:rPr sz="1100" b="1" dirty="0">
                <a:solidFill>
                  <a:srgbClr val="CC3333"/>
                </a:solidFill>
              </a:rPr>
              <a:t>: </a:t>
            </a:r>
            <a:r>
              <a:rPr sz="1100" dirty="0">
                <a:solidFill>
                  <a:srgbClr val="000000"/>
                </a:solidFill>
              </a:rPr>
              <a:t>ASN₂ is anomalous → suppress CDN</a:t>
            </a:r>
            <a:r>
              <a:rPr sz="800" baseline="-25000" dirty="0">
                <a:solidFill>
                  <a:srgbClr val="000000"/>
                </a:solidFill>
              </a:rPr>
              <a:t>A</a:t>
            </a:r>
          </a:p>
          <a:p>
            <a:endParaRPr lang="en-US" sz="1000" i="1" dirty="0">
              <a:solidFill>
                <a:srgbClr val="555555"/>
              </a:solidFill>
            </a:endParaRPr>
          </a:p>
          <a:p>
            <a:r>
              <a:rPr sz="1000" i="1" dirty="0">
                <a:solidFill>
                  <a:srgbClr val="555555"/>
                </a:solidFill>
              </a:rPr>
              <a:t>(more specific child is the true root cause)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Evaluation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IWQoS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0000"/>
                </a:solidFill>
              </a:defRPr>
            </a:pPr>
            <a:r>
              <a:rPr dirty="0"/>
              <a:t>Datasets: Two large-scale live sports streaming datasets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&gt; 1 million concurrent sessions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Multiple games over a season, each lasting hours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Hundreds of thousands of user groups</a:t>
            </a:r>
          </a:p>
          <a:p>
            <a:pPr>
              <a:spcAft>
                <a:spcPts val="600"/>
              </a:spcAft>
              <a:defRPr sz="2000" b="0">
                <a:solidFill>
                  <a:srgbClr val="000000"/>
                </a:solidFill>
              </a:defRPr>
            </a:pPr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0000"/>
                </a:solidFill>
              </a:defRPr>
            </a:pPr>
            <a:r>
              <a:rPr dirty="0"/>
              <a:t>Baselines compared: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Expert: manually tuned production system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GBDT: Gradient Boosted Decision Trees (</a:t>
            </a:r>
            <a:r>
              <a:rPr dirty="0" err="1"/>
              <a:t>XGBoost</a:t>
            </a:r>
            <a:r>
              <a:rPr dirty="0"/>
              <a:t>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Set Transformer: state-of-the-art deep neural network</a:t>
            </a:r>
          </a:p>
          <a:p>
            <a:pPr>
              <a:spcAft>
                <a:spcPts val="600"/>
              </a:spcAft>
              <a:defRPr sz="2000" b="0">
                <a:solidFill>
                  <a:srgbClr val="000000"/>
                </a:solidFill>
              </a:defRPr>
            </a:pPr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0000"/>
                </a:solidFill>
              </a:defRPr>
            </a:pPr>
            <a:r>
              <a:rPr dirty="0"/>
              <a:t>Metrics: F1 Score, Mistake Rate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Mistake Rate = (FP + FN) / total samples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solidFill>
                  <a:srgbClr val="000000"/>
                </a:solidFill>
              </a:defRPr>
            </a:pPr>
            <a:r>
              <a:rPr dirty="0"/>
              <a:t>Split: 60% train / 20% validation / 20%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400" y="6400800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rPr lang="en-US" sz="1100">
                <a:solidFill>
                  <a:srgbClr val="555555"/>
                </a:solidFill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Results: Beagle vs. GBDT vs. Set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IWQoS 2026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7F0F464-7F38-6B1F-D754-18A378BDAFF7}"/>
              </a:ext>
            </a:extLst>
          </p:cNvPr>
          <p:cNvGrpSpPr/>
          <p:nvPr/>
        </p:nvGrpSpPr>
        <p:grpSpPr>
          <a:xfrm>
            <a:off x="1887659" y="1321361"/>
            <a:ext cx="7729308" cy="3650036"/>
            <a:chOff x="2507768" y="1589184"/>
            <a:chExt cx="5760720" cy="2690959"/>
          </a:xfrm>
        </p:grpSpPr>
        <p:pic>
          <p:nvPicPr>
            <p:cNvPr id="6" name="Picture 5" descr="controlled-f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7768" y="1589184"/>
              <a:ext cx="5760720" cy="1152144"/>
            </a:xfrm>
            <a:prstGeom prst="rect">
              <a:avLst/>
            </a:prstGeom>
          </p:spPr>
        </p:pic>
        <p:pic>
          <p:nvPicPr>
            <p:cNvPr id="7" name="Picture 6" descr="controlled-mistak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07768" y="3127999"/>
              <a:ext cx="5760720" cy="1152144"/>
            </a:xfrm>
            <a:prstGeom prst="rect">
              <a:avLst/>
            </a:prstGeom>
          </p:spPr>
        </p:pic>
      </p:grpSp>
      <p:sp>
        <p:nvSpPr>
          <p:cNvPr id="8" name="TextBox 7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rPr dirty="0"/>
              <a:t>Beagle F1: 0.96+ | GBDT: 0.35 | Set Transformer: 0.52</a:t>
            </a:r>
          </a:p>
          <a:p>
            <a:pPr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GBDT fails on categories requiring graph relationships; Set Transformer hurt by distribution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400" y="6400800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rPr lang="en-US" sz="1100">
                <a:solidFill>
                  <a:srgbClr val="555555"/>
                </a:solidFill>
              </a:rPr>
              <a:t>10/13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E38DA2-468B-B185-39E2-B50004B5A61A}"/>
              </a:ext>
            </a:extLst>
          </p:cNvPr>
          <p:cNvSpPr/>
          <p:nvPr/>
        </p:nvSpPr>
        <p:spPr>
          <a:xfrm>
            <a:off x="1371600" y="2952168"/>
            <a:ext cx="8797636" cy="21185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C6F3B-F89B-99E0-1184-770150600DF0}"/>
              </a:ext>
            </a:extLst>
          </p:cNvPr>
          <p:cNvSpPr/>
          <p:nvPr/>
        </p:nvSpPr>
        <p:spPr>
          <a:xfrm>
            <a:off x="1524000" y="1345034"/>
            <a:ext cx="8797636" cy="21185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Results: Validation in the Wild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IWQoS 2026</a:t>
            </a:r>
          </a:p>
        </p:txBody>
      </p:sp>
      <p:pic>
        <p:nvPicPr>
          <p:cNvPr id="8" name="Picture 7" descr="micro-anomaly_type-mistake-no-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622" y="1359370"/>
            <a:ext cx="6208889" cy="41392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Primed with production expert system → Beagle reduces Mistake Rate from 0.43% to 0.05%</a:t>
            </a:r>
          </a:p>
          <a:p>
            <a:pPr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Nearly an order of magnitude improvement with only 1.13% labeled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400" y="6400800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rPr lang="en-US" sz="1100">
                <a:solidFill>
                  <a:srgbClr val="555555"/>
                </a:solidFill>
              </a:rPr>
              <a:t>11/13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8B56FF-E3C7-CDD6-8E32-227FDAF29D46}"/>
              </a:ext>
            </a:extLst>
          </p:cNvPr>
          <p:cNvSpPr/>
          <p:nvPr/>
        </p:nvSpPr>
        <p:spPr>
          <a:xfrm>
            <a:off x="3838222" y="1704622"/>
            <a:ext cx="5317067" cy="32760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IWQoS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0000"/>
                </a:solidFill>
              </a:defRPr>
            </a:pPr>
            <a:r>
              <a:rPr dirty="0"/>
              <a:t>Beagle: interpretable, auto-tuning root cause diagnosis for live streaming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solidFill>
                  <a:srgbClr val="000000"/>
                </a:solidFill>
              </a:defRPr>
            </a:pPr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0000"/>
                </a:solidFill>
              </a:defRPr>
            </a:pPr>
            <a:r>
              <a:rPr dirty="0"/>
              <a:t>Technical contributions: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Continuous relaxation of discrete rules → gradient-based threshold learning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Template graph with DAG constraint → learns general precedence relationships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Self-supervised pre-training + few-shot learning → works with &lt;10 examples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solidFill>
                  <a:srgbClr val="000000"/>
                </a:solidFill>
              </a:defRPr>
            </a:pPr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0000"/>
                </a:solidFill>
              </a:defRPr>
            </a:pPr>
            <a:r>
              <a:rPr dirty="0"/>
              <a:t>Practical impact: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Reduces manual tuning effort for operational teams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Interpretable → experts can verify suggestions before deployment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Robust to distribution shift (unlike deep learning alternatives)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Nearly order-of-magnitude reduction in diagnosis errors 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400" y="6400800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rPr lang="en-US" sz="1100">
                <a:solidFill>
                  <a:srgbClr val="555555"/>
                </a:solidFill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AADDFF"/>
                </a:solidFill>
              </a:defRPr>
            </a:pPr>
            <a:r>
              <a:rPr dirty="0"/>
              <a:t>Questions?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dirty="0"/>
              <a:t>Backup: </a:t>
            </a:r>
            <a:r>
              <a:rPr dirty="0"/>
              <a:t>Challenges in Root Cause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IWQoS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370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600"/>
              </a:spcAft>
              <a:defRPr sz="2000" b="1">
                <a:solidFill>
                  <a:srgbClr val="000000"/>
                </a:solidFill>
              </a:defRPr>
            </a:pPr>
            <a:r>
              <a:rPr dirty="0"/>
              <a:t>1. Aggregation vs. Detail Tradeoff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r>
              <a:rPr dirty="0"/>
              <a:t>High cardinality dimensions (10K+ ASNs, cities) → coarse views only</a:t>
            </a:r>
            <a:endParaRPr lang="en-US" dirty="0"/>
          </a:p>
          <a:p>
            <a:pPr lvl="1"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2000" b="1">
                <a:solidFill>
                  <a:srgbClr val="000000"/>
                </a:solidFill>
              </a:defRPr>
            </a:pPr>
            <a:r>
              <a:rPr dirty="0"/>
              <a:t>2. Dependence Between Dimensions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r>
              <a:rPr dirty="0"/>
              <a:t>Single issue → anomalies across multiple user groups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r>
              <a:rPr dirty="0"/>
              <a:t>Player P correlated with Device Families; Protocol Q with CDNs</a:t>
            </a:r>
            <a:endParaRPr lang="en-US" dirty="0"/>
          </a:p>
          <a:p>
            <a:pPr lvl="1"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2000" b="1">
                <a:solidFill>
                  <a:srgbClr val="000000"/>
                </a:solidFill>
              </a:defRPr>
            </a:pPr>
            <a:r>
              <a:rPr dirty="0"/>
              <a:t>3. Limited Feedback / Ground Truth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r>
              <a:rPr dirty="0"/>
              <a:t>Only ~1.13% of data points have retrospective labels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r>
              <a:rPr dirty="0"/>
              <a:t>Root causes are rare and imbalanced</a:t>
            </a:r>
            <a:endParaRPr lang="en-US" dirty="0"/>
          </a:p>
          <a:p>
            <a:pPr lvl="1"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2000" b="1">
                <a:solidFill>
                  <a:srgbClr val="000000"/>
                </a:solidFill>
              </a:defRPr>
            </a:pPr>
            <a:r>
              <a:rPr dirty="0"/>
              <a:t>4. Continuous Manual Tuning Required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r>
              <a:rPr dirty="0"/>
              <a:t>Rules and precedence graphs need domain expertise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r>
              <a:rPr dirty="0"/>
              <a:t>Long production cycles for each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400" y="6400800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rPr lang="en-US" sz="1100">
                <a:solidFill>
                  <a:srgbClr val="555555"/>
                </a:solidFill>
              </a:rPr>
              <a:t>B0/3</a:t>
            </a:r>
          </a:p>
        </p:txBody>
      </p:sp>
    </p:spTree>
    <p:extLst>
      <p:ext uri="{BB962C8B-B14F-4D97-AF65-F5344CB8AC3E}">
        <p14:creationId xmlns:p14="http://schemas.microsoft.com/office/powerpoint/2010/main" val="1608574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dirty="0"/>
              <a:t>Backup: </a:t>
            </a:r>
            <a:r>
              <a:rPr dirty="0"/>
              <a:t>Design: Learning from Limited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IWQoS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0000"/>
                </a:solidFill>
              </a:defRPr>
            </a:pPr>
            <a:r>
              <a:rPr dirty="0"/>
              <a:t>Challenge: Only ~1% of data points have ground truth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solidFill>
                  <a:srgbClr val="000000"/>
                </a:solidFill>
              </a:defRPr>
            </a:pPr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0000"/>
                </a:solidFill>
              </a:defRPr>
            </a:pPr>
            <a:r>
              <a:rPr dirty="0"/>
              <a:t>Solution: Combination of techniques: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Self-supervised pre-training: match existing policy when no feedback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Few-shot learning: adapt from limited </a:t>
            </a:r>
            <a:r>
              <a:rPr lang="en-US" dirty="0"/>
              <a:t>ground truth</a:t>
            </a:r>
            <a:endParaRPr dirty="0"/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Weighted loss function: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 b="0">
                <a:solidFill>
                  <a:srgbClr val="000000"/>
                </a:solidFill>
              </a:defRPr>
            </a:pPr>
            <a:r>
              <a:rPr dirty="0"/>
              <a:t>Higher weight for labeled data points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 b="0">
                <a:solidFill>
                  <a:srgbClr val="000000"/>
                </a:solidFill>
              </a:defRPr>
            </a:pPr>
            <a:r>
              <a:rPr dirty="0"/>
              <a:t>Lower weight for unlabeled (assume expert is correct)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 b="0">
                <a:solidFill>
                  <a:srgbClr val="000000"/>
                </a:solidFill>
              </a:defRPr>
            </a:pPr>
            <a:r>
              <a:rPr dirty="0"/>
              <a:t>Balance across root cause categories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solidFill>
                  <a:srgbClr val="000000"/>
                </a:solidFill>
              </a:defRPr>
            </a:pPr>
            <a:endParaRPr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0000"/>
                </a:solidFill>
              </a:defRPr>
            </a:pPr>
            <a:r>
              <a:rPr dirty="0"/>
              <a:t>Two-stage training: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Stage 1: Freeze graph, learn rule thresholds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rgbClr val="000000"/>
                </a:solidFill>
              </a:defRPr>
            </a:pPr>
            <a:r>
              <a:rPr dirty="0"/>
              <a:t>Stage 2: Freeze rules, learn graph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400" y="6400800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rPr lang="en-US" sz="1100">
                <a:solidFill>
                  <a:srgbClr val="555555"/>
                </a:solidFill>
              </a:rPr>
              <a:t>B1/3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dirty="0"/>
              <a:t>Backup: </a:t>
            </a:r>
            <a:r>
              <a:rPr dirty="0"/>
              <a:t>Results: Beagle's Auto-Tuning 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IWQoS 2026</a:t>
            </a:r>
          </a:p>
        </p:txBody>
      </p:sp>
      <p:pic>
        <p:nvPicPr>
          <p:cNvPr id="6" name="Picture 5" descr="perturbations_micro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669280" cy="3160241"/>
          </a:xfrm>
          <a:prstGeom prst="rect">
            <a:avLst/>
          </a:prstGeom>
        </p:spPr>
      </p:pic>
      <p:pic>
        <p:nvPicPr>
          <p:cNvPr id="7" name="Picture 6" descr="perturbations_micro_mist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669280" cy="31889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0292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Beagle achieves F1 ≈ 1.0 across all test cases, even from weak starting points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</a:defRPr>
            </a:pPr>
            <a:r>
              <a:t>Mistake Rate reduced by orders of magnitude vs. perturbed Expert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400" y="6400800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rPr lang="en-US" sz="1100">
                <a:solidFill>
                  <a:srgbClr val="555555"/>
                </a:solidFill>
              </a:rPr>
              <a:t>B2/3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dirty="0"/>
              <a:t>Backup: </a:t>
            </a:r>
            <a:r>
              <a:rPr dirty="0"/>
              <a:t>Why Does the Set Transformer Fall Short?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IWQoS 2026</a:t>
            </a:r>
          </a:p>
        </p:txBody>
      </p:sp>
      <p:pic>
        <p:nvPicPr>
          <p:cNvPr id="6" name="Picture 5" descr="useqVsShuff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029200" cy="2342106"/>
          </a:xfrm>
          <a:prstGeom prst="rect">
            <a:avLst/>
          </a:prstGeom>
        </p:spPr>
      </p:pic>
      <p:pic>
        <p:nvPicPr>
          <p:cNvPr id="7" name="Picture 6" descr="udistribution-sh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71600"/>
            <a:ext cx="54864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0292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Distribution shift between training and test data</a:t>
            </a:r>
          </a:p>
          <a:p>
            <a:pPr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Mixed (past+future) training → 68% median F1 improvement over chronological</a:t>
            </a:r>
          </a:p>
          <a:p>
            <a:pPr>
              <a:spcAft>
                <a:spcPts val="600"/>
              </a:spcAft>
              <a:defRPr sz="1600" b="0">
                <a:solidFill>
                  <a:srgbClr val="000000"/>
                </a:solidFill>
              </a:defRPr>
            </a:pPr>
            <a:r>
              <a:t>Beagle's inductive biases from domain knowledge make it robust to such shifts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400" y="6400800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rPr lang="en-US" sz="1100">
                <a:solidFill>
                  <a:srgbClr val="555555"/>
                </a:solidFill>
              </a:rPr>
              <a:t>B3/3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11587</TotalTime>
  <Words>1398</Words>
  <Application>Microsoft Macintosh PowerPoint</Application>
  <PresentationFormat>Widescreen</PresentationFormat>
  <Paragraphs>274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Akhtar, Zahaib</cp:lastModifiedBy>
  <cp:revision>59</cp:revision>
  <dcterms:created xsi:type="dcterms:W3CDTF">2013-01-27T09:14:16Z</dcterms:created>
  <dcterms:modified xsi:type="dcterms:W3CDTF">2026-06-28T19:41:10Z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2026-06-18T19:39:01Z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6649467f-55cb-43ec-b18b-a9d4904fbb25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